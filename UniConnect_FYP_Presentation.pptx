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 ·  20 sec  ·  45 words</a:t>
            </a:r>
          </a:p>
          <a:p/>
          <a:p>
            <a:r>
              <a:t>Good afternoon. I'm Mohamad Ali Rida, and this is Mohamad Sabbagh.</a:t>
            </a:r>
          </a:p>
          <a:p/>
          <a:p>
            <a:r>
              <a:t>You've just seen UniConnect running. In the next ten minutes we'll cover the</a:t>
            </a:r>
          </a:p>
          <a:p>
            <a:r>
              <a:t>three things a demo can't show you: why we built it this way, what the</a:t>
            </a:r>
          </a:p>
          <a:p>
            <a:r>
              <a:t>architecture actually guarantees, and where it falls short.</a:t>
            </a:r>
          </a:p>
          <a:p/>
          <a:p>
            <a:r>
              <a:t>(Don't read the title slide aloud. Move on.)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 ·  50 sec  ·  120 words</a:t>
            </a:r>
          </a:p>
          <a:p/>
          <a:p>
            <a:r>
              <a:t>Every university runs an SIS and an LMS. They own identity, enrolment and</a:t>
            </a:r>
          </a:p>
          <a:p>
            <a:r>
              <a:t>grades, and they're deliberately conservative — no institution lets a student</a:t>
            </a:r>
          </a:p>
          <a:p>
            <a:r>
              <a:t>project write into its record system.</a:t>
            </a:r>
          </a:p>
          <a:p/>
          <a:p>
            <a:r>
              <a:t>Now look at the right column. Everything around campus life happens somewhere</a:t>
            </a:r>
          </a:p>
          <a:p>
            <a:r>
              <a:t>else: a WhatsApp group for a study partner, a message for a lift, paper for</a:t>
            </a:r>
          </a:p>
          <a:p>
            <a:r>
              <a:t>attendance, a public job board for an internship.</a:t>
            </a:r>
          </a:p>
          <a:p/>
          <a:p>
            <a:r>
              <a:t>Those tools work. The problem is the bottom line — none of them know who is</a:t>
            </a:r>
          </a:p>
          <a:p>
            <a:r>
              <a:t>enrolled. A WhatsApp group can't tell a classmate from a stranger with the link.</a:t>
            </a:r>
          </a:p>
          <a:p>
            <a:r>
              <a:t>A shared attendance code can't tell a student in the room from one who was sent</a:t>
            </a:r>
          </a:p>
          <a:p>
            <a:r>
              <a:t>a screenshot.</a:t>
            </a:r>
          </a:p>
          <a:p/>
          <a:p>
            <a:r>
              <a:t>That's the gap. Not a missing app — a missing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 ·  45 sec  ·  90 words</a:t>
            </a:r>
          </a:p>
          <a:p/>
          <a:p>
            <a:r>
              <a:t>UniConnect is one platform carrying nine services.</a:t>
            </a:r>
          </a:p>
          <a:p/>
          <a:p>
            <a:r>
              <a:t>Six are student-facing — you saw most of them in the demo. Every university</a:t>
            </a:r>
          </a:p>
          <a:p>
            <a:r>
              <a:t>enables or disables these six independently; one that only wants attendance</a:t>
            </a:r>
          </a:p>
          <a:p>
            <a:r>
              <a:t>turns the other five off.</a:t>
            </a:r>
          </a:p>
          <a:p/>
          <a:p>
            <a:r>
              <a:t>Three are cross-cutting: notifications, reporting, audit logging. Shared</a:t>
            </a:r>
          </a:p>
          <a:p>
            <a:r>
              <a:t>infrastructure — which is why adding a service doesn't mean rebuilding a</a:t>
            </a:r>
          </a:p>
          <a:p>
            <a:r>
              <a:t>notification system for the fourth time.</a:t>
            </a:r>
          </a:p>
          <a:p/>
          <a:p>
            <a:r>
              <a:t>The important phrase is the last one in the title: no academic data owned.</a:t>
            </a:r>
          </a:p>
          <a:p>
            <a:r>
              <a:t>That's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 ·  75 sec  ·  170 words  ·  THE KEY SLIDE — do not rush it</a:t>
            </a:r>
          </a:p>
          <a:p/>
          <a:p>
            <a:r>
              <a:t>Read this diagram from the bottom.</a:t>
            </a:r>
          </a:p>
          <a:p/>
          <a:p>
            <a:r>
              <a:t>At the bottom, university APIs. We never write to them. We read identity,</a:t>
            </a:r>
          </a:p>
          <a:p>
            <a:r>
              <a:t>courses and enrolment; the university stays the system of record.</a:t>
            </a:r>
          </a:p>
          <a:p/>
          <a:p>
            <a:r>
              <a:t>Above them, the single idea this project rests on: one interface,</a:t>
            </a:r>
          </a:p>
          <a:p>
            <a:r>
              <a:t>IUniversityProvider. Every service that needs academic data asks that interface.</a:t>
            </a:r>
          </a:p>
          <a:p>
            <a:r>
              <a:t>No service anywhere knows which university it's talking to, or what shape that</a:t>
            </a:r>
          </a:p>
          <a:p>
            <a:r>
              <a:t>API has.</a:t>
            </a:r>
          </a:p>
          <a:p/>
          <a:p>
            <a:r>
              <a:t>Above that, the backend — core platform, nine modules, SignalR hubs. It writes</a:t>
            </a:r>
          </a:p>
          <a:p>
            <a:r>
              <a:t>to one database: ours, thirty-seven tables, holding only what we must own.</a:t>
            </a:r>
          </a:p>
          <a:p>
            <a:r>
              <a:t>No grades. No transcripts.</a:t>
            </a:r>
          </a:p>
          <a:p/>
          <a:p>
            <a:r>
              <a:t>At the top, both clients hit that same backend.</a:t>
            </a:r>
          </a:p>
          <a:p/>
          <a:p>
            <a:r>
              <a:t>Now the payoff. We didn't just design this and hope. We implemented the</a:t>
            </a:r>
          </a:p>
          <a:p>
            <a:r>
              <a:t>interface twice — once for our own simulated university, once for a real partner</a:t>
            </a:r>
          </a:p>
          <a:p>
            <a:r>
              <a:t>university whose API is genuinely different: different field names, course data</a:t>
            </a:r>
          </a:p>
          <a:p>
            <a:r>
              <a:t>nested inside sections, no bulk student endpoint.</a:t>
            </a:r>
          </a:p>
          <a:p/>
          <a:p>
            <a:r>
              <a:t>Supporting it took one new class. Not one of the nine services changed. That's</a:t>
            </a:r>
          </a:p>
          <a:p>
            <a:r>
              <a:t>the claim this project is really 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 ·  40 sec  ·  95 words  ·  Move briskly — reference slide</a:t>
            </a:r>
          </a:p>
          <a:p/>
          <a:p>
            <a:r>
              <a:t>The stack is deliberately boring, and that's a decision.</a:t>
            </a:r>
          </a:p>
          <a:p/>
          <a:p>
            <a:r>
              <a:t>ASP.NET Core 8 in C#. The web portal is server-rendered Razor; mobile talks to a</a:t>
            </a:r>
          </a:p>
          <a:p>
            <a:r>
              <a:t>JSON API. Both go through the same service layer — so web and mobile can never</a:t>
            </a:r>
          </a:p>
          <a:p>
            <a:r>
              <a:t>silently disagree about whether a student may join a group.</a:t>
            </a:r>
          </a:p>
          <a:p/>
          <a:p>
            <a:r>
              <a:t>EF Core over SQL Server. SignalR, six hubs.</a:t>
            </a:r>
          </a:p>
          <a:p/>
          <a:p>
            <a:r>
              <a:t>Identity is worth a sentence: cookies for web, JWT for mobile, both from the</a:t>
            </a:r>
          </a:p>
          <a:p>
            <a:r>
              <a:t>same Identity store. One student, one account.</a:t>
            </a:r>
          </a:p>
          <a:p/>
          <a:p>
            <a:r>
              <a:t>And the tests run against a real database — I'll come back to that.</a:t>
            </a:r>
          </a:p>
          <a:p/>
          <a:p>
            <a:r>
              <a:t>[HAND OVER TO SPEAKER B]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 ·  65 sec  ·  150 words</a:t>
            </a:r>
          </a:p>
          <a:p/>
          <a:p>
            <a:r>
              <a:t>This is the module we went deepest on.</a:t>
            </a:r>
          </a:p>
          <a:p/>
          <a:p>
            <a:r>
              <a:t>The standard approach to digital attendance is a code or a card. One factor. And</a:t>
            </a:r>
          </a:p>
          <a:p>
            <a:r>
              <a:t>one factor has an obvious failure: the student photographs the code and sends it</a:t>
            </a:r>
          </a:p>
          <a:p>
            <a:r>
              <a:t>to a friend at home.</a:t>
            </a:r>
          </a:p>
          <a:p/>
          <a:p>
            <a:r>
              <a:t>We check five things. Is the token still valid — sessions expire on a timer. Is</a:t>
            </a:r>
          </a:p>
          <a:p>
            <a:r>
              <a:t>the student actually enrolled — that goes live through the adapter to the</a:t>
            </a:r>
          </a:p>
          <a:p>
            <a:r>
              <a:t>university's own record. Have they already checked in — that's a unique index in</a:t>
            </a:r>
          </a:p>
          <a:p>
            <a:r>
              <a:t>the database, so it's impossible by construction, not just code we could forget</a:t>
            </a:r>
          </a:p>
          <a:p>
            <a:r>
              <a:t>to call. Are they inside the classroom radius. And has this device already</a:t>
            </a:r>
          </a:p>
          <a:p>
            <a:r>
              <a:t>checked someone in for this session.</a:t>
            </a:r>
          </a:p>
          <a:p/>
          <a:p>
            <a:r>
              <a:t>Pass all five: Present, or Late outside the grace window.</a:t>
            </a:r>
          </a:p>
          <a:p/>
          <a:p>
            <a:r>
              <a:t>So back to the screenshot attack. The friend at home has a valid token and is</a:t>
            </a:r>
          </a:p>
          <a:p>
            <a:r>
              <a:t>genuinely enrolled. They fail on GPS. Borrow a classmate's phone in the room,</a:t>
            </a:r>
          </a:p>
          <a:p>
            <a:r>
              <a:t>and they fail on device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 ·  60 sec  ·  140 words</a:t>
            </a:r>
          </a:p>
          <a:p/>
          <a:p>
            <a:r>
              <a:t>Internship matching is the module with the most direct real-world value — and</a:t>
            </a:r>
          </a:p>
          <a:p>
            <a:r>
              <a:t>the one our university is looking to adopt.</a:t>
            </a:r>
          </a:p>
          <a:p/>
          <a:p>
            <a:r>
              <a:t>Every posting is scored out of 100. The left panel shows the split: skills 35,</a:t>
            </a:r>
          </a:p>
          <a:p>
            <a:r>
              <a:t>completed courses 25, major 20, interests and location 10 each.</a:t>
            </a:r>
          </a:p>
          <a:p/>
          <a:p>
            <a:r>
              <a:t>It isn't keyword matching. TF-IDF with cosine similarity, so a term that appears</a:t>
            </a:r>
          </a:p>
          <a:p>
            <a:r>
              <a:t>in every posting counts for very little and a rare skill counts for a lot.</a:t>
            </a:r>
          </a:p>
          <a:p/>
          <a:p>
            <a:r>
              <a:t>The part we're most pleased with is the top-right box. The course component is</a:t>
            </a:r>
          </a:p>
          <a:p>
            <a:r>
              <a:t>read live through the adapter — the university's record of what the student</a:t>
            </a:r>
          </a:p>
          <a:p>
            <a:r>
              <a:t>actually passed. A job board matches what a student writes about themselves.</a:t>
            </a:r>
          </a:p>
          <a:p>
            <a:r>
              <a:t>We match what the registrar says.</a:t>
            </a:r>
          </a:p>
          <a:p/>
          <a:p>
            <a:r>
              <a:t>Below it, the honest detail: if the API is down we don't fail. The remaining</a:t>
            </a:r>
          </a:p>
          <a:p>
            <a:r>
              <a:t>weights scale up proportionally and the student sees a partial score with the</a:t>
            </a:r>
          </a:p>
          <a:p>
            <a:r>
              <a:t>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 ·  45 sec  ·  110 words</a:t>
            </a:r>
          </a:p>
          <a:p/>
          <a:p>
            <a:r>
              <a:t>Ride sharing is the most familiar of the three, so I'll be quick on what it does.</a:t>
            </a:r>
          </a:p>
          <a:p/>
          <a:p>
            <a:r>
              <a:t>A driver publishes a route and a seat count. Riders request, the driver</a:t>
            </a:r>
          </a:p>
          <a:p>
            <a:r>
              <a:t>approves. Once moving, the driver's position streams over SignalR so riders can</a:t>
            </a:r>
          </a:p>
          <a:p>
            <a:r>
              <a:t>watch the car approach.</a:t>
            </a:r>
          </a:p>
          <a:p/>
          <a:p>
            <a:r>
              <a:t>The engineering point is the third card. If two riders are approved at the same</a:t>
            </a:r>
          </a:p>
          <a:p>
            <a:r>
              <a:t>instant for the last seat, a naive implementation sells it twice. An</a:t>
            </a:r>
          </a:p>
          <a:p>
            <a:r>
              <a:t>optimistic-concurrency row version means one wins and the other gets a clean</a:t>
            </a:r>
          </a:p>
          <a:p>
            <a:r>
              <a:t>message — rather than the driver finding out in the car park.</a:t>
            </a:r>
          </a:p>
          <a:p/>
          <a:p>
            <a:r>
              <a:t>And the differentiator: Uber can move a student across the city. It can't</a:t>
            </a:r>
          </a:p>
          <a:p>
            <a:r>
              <a:t>guarantee everyone in that car is a verified member of your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 ·  45 sec  ·  115 words</a:t>
            </a:r>
          </a:p>
          <a:p/>
          <a:p>
            <a:r>
              <a:t>Study Groups is the module that shows the enrolment check doing ordinary work.</a:t>
            </a:r>
          </a:p>
          <a:p/>
          <a:p>
            <a:r>
              <a:t>A student creates a group for a course. Anyone who asks to join is checked</a:t>
            </a:r>
          </a:p>
          <a:p>
            <a:r>
              <a:t>against the university's own enrolment record, live, through the adapter. Not an</a:t>
            </a:r>
          </a:p>
          <a:p>
            <a:r>
              <a:t>invite link — the group can only ever contain people actually taking that course.</a:t>
            </a:r>
          </a:p>
          <a:p/>
          <a:p>
            <a:r>
              <a:t>Chat is real-time over SignalR, the same hub serving web and mobile.</a:t>
            </a:r>
          </a:p>
          <a:p/>
          <a:p>
            <a:r>
              <a:t>And the third card is the same concurrency problem as the last seat in a car:</a:t>
            </a:r>
          </a:p>
          <a:p>
            <a:r>
              <a:t>groups cap at ten, and two students accepting the final place at the same moment</a:t>
            </a:r>
          </a:p>
          <a:p>
            <a:r>
              <a:t>cannot both get in.</a:t>
            </a:r>
          </a:p>
          <a:p/>
          <a:p>
            <a:r>
              <a:t>The callout is the point. A WhatsApp group cannot tell a classmate from a</a:t>
            </a:r>
          </a:p>
          <a:p>
            <a:r>
              <a:t>stranger with the link. This can, because it asks the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 ·  40 sec  ·  100 words</a:t>
            </a:r>
          </a:p>
          <a:p/>
          <a:p>
            <a:r>
              <a:t>Clubs is the module a student society actually runs on.</a:t>
            </a:r>
          </a:p>
          <a:p/>
          <a:p>
            <a:r>
              <a:t>The first card is the one that matters. President, Vice-President, Officer and</a:t>
            </a:r>
          </a:p>
          <a:p>
            <a:r>
              <a:t>Member are real roles carrying real permissions — only officers can post an</a:t>
            </a:r>
          </a:p>
          <a:p>
            <a:r>
              <a:t>announcement or create an event. That means a club survives its committee</a:t>
            </a:r>
          </a:p>
          <a:p>
            <a:r>
              <a:t>changing, which a group chat does not.</a:t>
            </a:r>
          </a:p>
          <a:p/>
          <a:p>
            <a:r>
              <a:t>Announcements go through the same shared notification service every other module</a:t>
            </a:r>
          </a:p>
          <a:p>
            <a:r>
              <a:t>uses. Events carry RSVPs, so a society knows its numbers before the day.</a:t>
            </a:r>
          </a:p>
          <a:p/>
          <a:p>
            <a:r>
              <a:t>The callout is the honest framing: societies today run on group chats and</a:t>
            </a:r>
          </a:p>
          <a:p>
            <a:r>
              <a:t>spreadsheets, and they lose their history every single year when the committee</a:t>
            </a:r>
          </a:p>
          <a:p>
            <a:r>
              <a:t>hands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 ·  40 sec  ·  105 words</a:t>
            </a:r>
          </a:p>
          <a:p/>
          <a:p>
            <a:r>
              <a:t>Complaints and Ticketing is the least glamorous module and the one a university</a:t>
            </a:r>
          </a:p>
          <a:p>
            <a:r>
              <a:t>administrator asks about first.</a:t>
            </a:r>
          </a:p>
          <a:p/>
          <a:p>
            <a:r>
              <a:t>A student raises a ticket against a category, and that category maps to the</a:t>
            </a:r>
          </a:p>
          <a:p>
            <a:r>
              <a:t>department that owns it — so it reaches staff who can actually resolve it, not a</a:t>
            </a:r>
          </a:p>
          <a:p>
            <a:r>
              <a:t>shared inbox where nothing is anyone's job.</a:t>
            </a:r>
          </a:p>
          <a:p/>
          <a:p>
            <a:r>
              <a:t>It then has a real lifecycle: Open, In Progress, Waiting for Student, Resolved,</a:t>
            </a:r>
          </a:p>
          <a:p>
            <a:r>
              <a:t>Closed, Rejected. The student can see that state at any time, and every response</a:t>
            </a:r>
          </a:p>
          <a:p>
            <a:r>
              <a:t>is kept with the ticket.</a:t>
            </a:r>
          </a:p>
          <a:p/>
          <a:p>
            <a:r>
              <a:t>Attachments carry evidence, and administrative actions are written to the audit</a:t>
            </a:r>
          </a:p>
          <a:p>
            <a:r>
              <a:t>log, so what happened and who did it is answerable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 ·  60 sec  ·  140 words</a:t>
            </a:r>
          </a:p>
          <a:p/>
          <a:p>
            <a:r>
              <a:t>We'll be direct here, because attendance changes what kind of system this is.</a:t>
            </a:r>
          </a:p>
          <a:p>
            <a:r>
              <a:t>Recording GPS at check-in means storing where a named student physically was.</a:t>
            </a:r>
          </a:p>
          <a:p/>
          <a:p>
            <a:r>
              <a:t>On the left, what's enforced. The first matters most: tenant isolation lives in</a:t>
            </a:r>
          </a:p>
          <a:p>
            <a:r>
              <a:t>the database. Every service row carries a university code, so one university's</a:t>
            </a:r>
          </a:p>
          <a:p>
            <a:r>
              <a:t>staff can't reach another's data even if we made a mistake in application code.</a:t>
            </a:r>
          </a:p>
          <a:p/>
          <a:p>
            <a:r>
              <a:t>Second, the adapter is read-only by construction — no code path writes to a</a:t>
            </a:r>
          </a:p>
          <a:p>
            <a:r>
              <a:t>university's record, so a bug here cannot corrupt one.</a:t>
            </a:r>
          </a:p>
          <a:p/>
          <a:p>
            <a:r>
              <a:t>Third, two-factor authentication. TOTP, and the enrolment detail matters:</a:t>
            </a:r>
          </a:p>
          <a:p>
            <a:r>
              <a:t>the student scans a QR code, so the shared secret is never typed by hand.</a:t>
            </a:r>
          </a:p>
          <a:p/>
          <a:p>
            <a:r>
              <a:t>On the right, what we haven't done. No retention or erasure policy. We tell</a:t>
            </a:r>
          </a:p>
          <a:p>
            <a:r>
              <a:t>students we check location, not that we fingerprint the device. No formal DPIA.</a:t>
            </a:r>
          </a:p>
          <a:p/>
          <a:p>
            <a:r>
              <a:t>We could have left this slide out. A system that records student location should</a:t>
            </a:r>
          </a:p>
          <a:p>
            <a:r>
              <a:t>be presented with its gaps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 ·  50 sec  ·  115 words</a:t>
            </a:r>
          </a:p>
          <a:p/>
          <a:p>
            <a:r>
              <a:t>We're not claiming these products are bad. Each does its own job better than we</a:t>
            </a:r>
          </a:p>
          <a:p>
            <a:r>
              <a:t>do. Canvas is a better LMS than anything we built; LinkedIn has a vastly larger</a:t>
            </a:r>
          </a:p>
          <a:p>
            <a:r>
              <a:t>job pool.</a:t>
            </a:r>
          </a:p>
          <a:p/>
          <a:p>
            <a:r>
              <a:t>The claim is coverage. Read across the rows.</a:t>
            </a:r>
          </a:p>
          <a:p/>
          <a:p>
            <a:r>
              <a:t>An LMS knows enrolment, but its attendance is usually a single code — partial.</a:t>
            </a:r>
          </a:p>
          <a:p>
            <a:r>
              <a:t>WhatsApp has no idea who's enrolled; anyone with the link joins. A ride app has</a:t>
            </a:r>
          </a:p>
          <a:p>
            <a:r>
              <a:t>no campus context. LinkedIn matches, but on text the student wrote about</a:t>
            </a:r>
          </a:p>
          <a:p>
            <a:r>
              <a:t>themselves.</a:t>
            </a:r>
          </a:p>
          <a:p/>
          <a:p>
            <a:r>
              <a:t>And the bottom two rows are empty until the last column. Nothing there sits</a:t>
            </a:r>
          </a:p>
          <a:p>
            <a:r>
              <a:t>above the university's own system without absorbing its data, and nothing puts</a:t>
            </a:r>
          </a:p>
          <a:p>
            <a:r>
              <a:t>all of this behind one verified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A  ·  45 sec  ·  110 words</a:t>
            </a:r>
          </a:p>
          <a:p/>
          <a:p>
            <a:r>
              <a:t>Briefly, the scale — a defence should point at something concrete.</a:t>
            </a:r>
          </a:p>
          <a:p/>
          <a:p>
            <a:r>
              <a:t>About twenty-eight thousand seven hundred lines of hand-written C#, excluding</a:t>
            </a:r>
          </a:p>
          <a:p>
            <a:r>
              <a:t>generated migrations. Thirty-seven tables, a hundred and seventy-four controller</a:t>
            </a:r>
          </a:p>
          <a:p>
            <a:r>
              <a:t>actions, six SignalR hubs. Two provider implementations — the adapter claim in</a:t>
            </a:r>
          </a:p>
          <a:p>
            <a:r>
              <a:t>numeric form.</a:t>
            </a:r>
          </a:p>
          <a:p/>
          <a:p>
            <a:r>
              <a:t>Two hundred and seventy-one passing tests. The band at the bottom is what we'd</a:t>
            </a:r>
          </a:p>
          <a:p>
            <a:r>
              <a:t>like to be asked about.</a:t>
            </a:r>
          </a:p>
          <a:p/>
          <a:p>
            <a:r>
              <a:t>Most student suites use EF Core's in-memory provider — fast, easy, and it</a:t>
            </a:r>
          </a:p>
          <a:p>
            <a:r>
              <a:t>doesn't enforce unique indexes or foreign keys. So it passes for exactly the</a:t>
            </a:r>
          </a:p>
          <a:p>
            <a:r>
              <a:t>bugs most likely to reach production. We run against a real database. Slower.</a:t>
            </a:r>
          </a:p>
          <a:p>
            <a:r>
              <a:t>It tests something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B  ·  40 sec  ·  105 words  ·  Don't read all six — lead with mobile</a:t>
            </a:r>
          </a:p>
          <a:p/>
          <a:p>
            <a:r>
              <a:t>Six items; I'll lead with the one we'd do next.</a:t>
            </a:r>
          </a:p>
          <a:p/>
          <a:p>
            <a:r>
              <a:t>The mobile live layer. The web portal already has real-time chat, live ride</a:t>
            </a:r>
          </a:p>
          <a:p>
            <a:r>
              <a:t>tracking and instant notifications over SignalR. The mobile client doesn't yet,</a:t>
            </a:r>
          </a:p>
          <a:p>
            <a:r>
              <a:t>and closing that gap is the single biggest improvement to how the app feels.</a:t>
            </a:r>
          </a:p>
          <a:p/>
          <a:p>
            <a:r>
              <a:t>After that: finish mobile coverage for rides, clubs and complaints; close the</a:t>
            </a:r>
          </a:p>
          <a:p>
            <a:r>
              <a:t>two capabilities genuinely missing from the partner university's API, both</a:t>
            </a:r>
          </a:p>
          <a:p>
            <a:r>
              <a:t>already raised with them; deepen the test suite with end-to-end tests and a</a:t>
            </a:r>
          </a:p>
          <a:p>
            <a:r>
              <a:t>formal authorization matrix; and complete the data-protection work from the</a:t>
            </a:r>
          </a:p>
          <a:p>
            <a:r>
              <a:t>previous slide.</a:t>
            </a:r>
          </a:p>
          <a:p/>
          <a:p>
            <a:r>
              <a:t>The last one is worth naming. We argue for our interface decisions from</a:t>
            </a:r>
          </a:p>
          <a:p>
            <a:r>
              <a:t>convention. We have not measured them against real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 ·  10 sec  ·  10 words</a:t>
            </a:r>
          </a:p>
          <a:p/>
          <a:p>
            <a:r>
              <a:t>Thank you — we're happy to take questions.</a:t>
            </a:r>
          </a:p>
          <a:p/>
          <a:p>
            <a:r>
              <a:t>(Everything below is reference for the Q&amp;A. Not spoken.)</a:t>
            </a:r>
          </a:p>
          <a:p/>
          <a:p>
            <a:r>
              <a:t>--------------------------------------------------------------------</a:t>
            </a:r>
          </a:p>
          <a:p>
            <a:r>
              <a:t>LIKELY QUESTIONS, AND THE SHORT ANSWERS</a:t>
            </a:r>
          </a:p>
          <a:p>
            <a:r>
              <a:t>--------------------------------------------------------------------</a:t>
            </a:r>
          </a:p>
          <a:p/>
          <a:p>
            <a:r>
              <a:t>"Your report lists two-factor authentication as future work."</a:t>
            </a:r>
          </a:p>
          <a:p>
            <a:r>
              <a:t>  Correct at the time of writing. It was finished after the report was</a:t>
            </a:r>
          </a:p>
          <a:p>
            <a:r>
              <a:t>  submitted, which is why it appears on the security slide rather than the</a:t>
            </a:r>
          </a:p>
          <a:p>
            <a:r>
              <a:t>  future-work one. Offer to demonstrate the QR enrolment.</a:t>
            </a:r>
          </a:p>
          <a:p/>
          <a:p>
            <a:r>
              <a:t>"Does two-factor work on the mobile app?"</a:t>
            </a:r>
          </a:p>
          <a:p>
            <a:r>
              <a:t>  No, and that is deliberate rather than unfinished. The mobile API validates</a:t>
            </a:r>
          </a:p>
          <a:p>
            <a:r>
              <a:t>  the password only, so leaving it alone would have meant a student could</a:t>
            </a:r>
          </a:p>
          <a:p>
            <a:r>
              <a:t>  enable 2FA on the web and still be let into the app with a password alone —</a:t>
            </a:r>
          </a:p>
          <a:p>
            <a:r>
              <a:t>  the second factor would have been decorative. The API refuses those accounts</a:t>
            </a:r>
          </a:p>
          <a:p>
            <a:r>
              <a:t>  with a clear message instead, and the enrolment page says so before the</a:t>
            </a:r>
          </a:p>
          <a:p>
            <a:r>
              <a:t>  student opts in. Accepting a code in the login request is the next step; it</a:t>
            </a:r>
          </a:p>
          <a:p>
            <a:r>
              <a:t>  needs a mobile release.</a:t>
            </a:r>
          </a:p>
          <a:p/>
          <a:p>
            <a:r>
              <a:t>"How do you know an authenticator app will actually accept your QR code?"</a:t>
            </a:r>
          </a:p>
          <a:p>
            <a:r>
              <a:t>  We compute the TOTP independently — in the test suite and again in an</a:t>
            </a:r>
          </a:p>
          <a:p>
            <a:r>
              <a:t>  end-to-end script — from nothing but the shared key and the clock, which is</a:t>
            </a:r>
          </a:p>
          <a:p>
            <a:r>
              <a:t>  exactly what a phone has. The server accepts those codes. We also loaded the</a:t>
            </a:r>
          </a:p>
          <a:p>
            <a:r>
              <a:t>  QR library outside the browser and had it encode the real provisioning URI.</a:t>
            </a:r>
          </a:p>
          <a:p/>
          <a:p>
            <a:r>
              <a:t>"What if a student loses their phone?"</a:t>
            </a:r>
          </a:p>
          <a:p>
            <a:r>
              <a:t>  Ten single-use recovery codes, shown once behind an explicit confirmation,</a:t>
            </a:r>
          </a:p>
          <a:p>
            <a:r>
              <a:t>  with copy, download and print. If those are gone too, an administrator can</a:t>
            </a:r>
          </a:p>
          <a:p>
            <a:r>
              <a:t>  reset the second factor — and that reset writes an audit entry naming the</a:t>
            </a:r>
          </a:p>
          <a:p>
            <a:r>
              <a:t>  administrator who did it, which is what keeps the escape hatch from being a</a:t>
            </a:r>
          </a:p>
          <a:p>
            <a:r>
              <a:t>  back door.</a:t>
            </a:r>
          </a:p>
          <a:p/>
          <a:p>
            <a:r>
              <a:t>"Why not just build this into the LMS?"</a:t>
            </a:r>
          </a:p>
          <a:p>
            <a:r>
              <a:t>  Because it would require the university to let a third party write into its</a:t>
            </a:r>
          </a:p>
          <a:p>
            <a:r>
              <a:t>  system of record. Our whole architecture exists to avoid asking for that.</a:t>
            </a:r>
          </a:p>
          <a:p/>
          <a:p>
            <a:r>
              <a:t>"What stops a student spoofing GPS?"</a:t>
            </a:r>
          </a:p>
          <a:p>
            <a:r>
              <a:t>  Nothing at the OS level — a rooted device can lie. That is exactly why GPS is</a:t>
            </a:r>
          </a:p>
          <a:p>
            <a:r>
              <a:t>  one of five checks rather than the only one, and why device-fingerprint reuse</a:t>
            </a:r>
          </a:p>
          <a:p>
            <a:r>
              <a:t>  is checked alongside it. We would not claim it is unspoofable.</a:t>
            </a:r>
          </a:p>
          <a:p/>
          <a:p>
            <a:r>
              <a:t>"How long would onboarding a new university take?"</a:t>
            </a:r>
          </a:p>
          <a:p>
            <a:r>
              <a:t>  Implementing one interface. For the partner university it was one class. The</a:t>
            </a:r>
          </a:p>
          <a:p>
            <a:r>
              <a:t>  real cost is not the code, it is getting API access agreed.</a:t>
            </a:r>
          </a:p>
          <a:p/>
          <a:p>
            <a:r>
              <a:t>"Is the data safe?"</a:t>
            </a:r>
          </a:p>
          <a:p>
            <a:r>
              <a:t>  Isolation is enforced at the database level, and the adapter cannot write to</a:t>
            </a:r>
          </a:p>
          <a:p>
            <a:r>
              <a:t>  university systems. But we listed real gaps on the security slide — no</a:t>
            </a:r>
          </a:p>
          <a:p>
            <a:r>
              <a:t>  retention policy, no DPIA — and we would not deploy without closing them.</a:t>
            </a:r>
          </a:p>
          <a:p/>
          <a:p>
            <a:r>
              <a:t>"Why is the mobile app incomplete?"</a:t>
            </a:r>
          </a:p>
          <a:p>
            <a:r>
              <a:t>  We lost two months of work when access to a development account was lost. We</a:t>
            </a:r>
          </a:p>
          <a:p>
            <a:r>
              <a:t>  chose to finish three modules properly rather than start six badly, and</a:t>
            </a:r>
          </a:p>
          <a:p>
            <a:r>
              <a:t>  documented the rest as future work.</a:t>
            </a:r>
          </a:p>
          <a:p/>
          <a:p>
            <a:r>
              <a:t>"What was the hardest part?"</a:t>
            </a:r>
          </a:p>
          <a:p>
            <a:r>
              <a:t>  Integrating with a real external API we did not control. It had different</a:t>
            </a:r>
          </a:p>
          <a:p>
            <a:r>
              <a:t>  field names, nested course data, and two endpoints that simply do not exist.</a:t>
            </a:r>
          </a:p>
          <a:p>
            <a:r>
              <a:t>  That is also what proved the adapter was worth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7.png"/><Relationship Id="rId9" Type="http://schemas.openxmlformats.org/officeDocument/2006/relationships/image" Target="../media/image28.png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9.png"/><Relationship Id="rId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web_home_fr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91056"/>
            <a:ext cx="4937760" cy="2699834"/>
          </a:xfrm>
          <a:prstGeom prst="rect">
            <a:avLst/>
          </a:prstGeom>
          <a:effectLst>
            <a:outerShdw blurRad="381000" dist="127000" dir="5400000" rotWithShape="0">
              <a:srgbClr val="0F172A">
                <a:alpha val="34000"/>
              </a:srgbClr>
            </a:outerShdw>
          </a:effectLst>
        </p:spPr>
      </p:pic>
      <p:pic>
        <p:nvPicPr>
          <p:cNvPr id="4" name="Picture 3" descr="mobile_home_fra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2761488"/>
            <a:ext cx="1880171" cy="3346704"/>
          </a:xfrm>
          <a:prstGeom prst="rect">
            <a:avLst/>
          </a:prstGeom>
          <a:effectLst>
            <a:outerShdw blurRad="330200" dist="114300" dir="5400000" rotWithShape="0">
              <a:srgbClr val="0F172A">
                <a:alpha val="38000"/>
              </a:srgbClr>
            </a:outerShdw>
          </a:effectLst>
        </p:spPr>
      </p:pic>
      <p:pic>
        <p:nvPicPr>
          <p:cNvPr id="5" name="Picture 4" descr="g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5448" y="658368"/>
            <a:ext cx="2468880" cy="2468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316736"/>
            <a:ext cx="804672" cy="804672"/>
          </a:xfrm>
          <a:prstGeom prst="roundRect">
            <a:avLst>
              <a:gd name="adj" fmla="val 2613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-graduatio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1508760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395728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22C55E"/>
                </a:solidFill>
                <a:latin typeface="Segoe UI Semibold"/>
              </a:rPr>
              <a:t>FINAL YEAR PROJECT  ·  BACHELOR OF COMPUTER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5989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Segoe UI Semibold"/>
              </a:rPr>
              <a:t>UniConnect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12463"/>
            <a:ext cx="5989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DCFCE7"/>
                </a:solidFill>
                <a:latin typeface="Segoe UI"/>
              </a:rPr>
              <a:t>An Integration-First Multi-University
Digital Services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553712"/>
            <a:ext cx="1737360" cy="330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91456"/>
            <a:ext cx="5989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Mohamad Sabbagh  ·  1123206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Mohamad Ali Rida  ·  1122824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69280"/>
            <a:ext cx="5989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CFCE7"/>
                </a:solidFill>
                <a:latin typeface="Segoe UI"/>
              </a:rPr>
              <a:t>Supervisor:  Zahraa Sleem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8FD0A8"/>
                </a:solidFill>
                <a:latin typeface="Segoe UI"/>
              </a:rPr>
              <a:t>University of Sciences and Arts in Lebanon  ·  Faculty of Sciences and Arts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8FD0A8"/>
                </a:solidFill>
                <a:latin typeface="Segoe UI"/>
              </a:rPr>
              <a:t>18 August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12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9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19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19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19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Universities run the records. Students improvise the rest.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5254599" cy="324612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5254599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8" y="1938528"/>
            <a:ext cx="4669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 Semibold"/>
              </a:rPr>
              <a:t>What the SIS and LMS already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4669383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—  </a:t>
            </a:r>
            <a:r>
              <a:rPr sz="1200">
                <a:solidFill>
                  <a:srgbClr val="334155"/>
                </a:solidFill>
                <a:latin typeface="Segoe UI"/>
              </a:rPr>
              <a:t>Student identity and university records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—  </a:t>
            </a:r>
            <a:r>
              <a:rPr sz="1200">
                <a:solidFill>
                  <a:srgbClr val="334155"/>
                </a:solidFill>
                <a:latin typeface="Segoe UI"/>
              </a:rPr>
              <a:t>Course catalogue and enrolment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—  </a:t>
            </a:r>
            <a:r>
              <a:rPr sz="1200">
                <a:solidFill>
                  <a:srgbClr val="334155"/>
                </a:solidFill>
                <a:latin typeface="Segoe UI"/>
              </a:rPr>
              <a:t>Coursework, submissions and 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123944"/>
            <a:ext cx="466938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Conservative by design, and rightly so. This is the institution's system of record, and no university should let a student project write to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1295" y="1664208"/>
            <a:ext cx="5254599" cy="3246120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51295" y="1664208"/>
            <a:ext cx="5254599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43903" y="1938528"/>
            <a:ext cx="4669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 Semibold"/>
              </a:rPr>
              <a:t>What students are left to improvise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903" y="2322576"/>
            <a:ext cx="4669383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—  </a:t>
            </a:r>
            <a:r>
              <a:rPr sz="1200">
                <a:solidFill>
                  <a:srgbClr val="334155"/>
                </a:solidFill>
                <a:latin typeface="Segoe UI"/>
              </a:rPr>
              <a:t>Study partners, in a group chat anyone can join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—  </a:t>
            </a:r>
            <a:r>
              <a:rPr sz="1200">
                <a:solidFill>
                  <a:srgbClr val="334155"/>
                </a:solidFill>
                <a:latin typeface="Segoe UI"/>
              </a:rPr>
              <a:t>Lifts to campus, arranged person to person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—  </a:t>
            </a:r>
            <a:r>
              <a:rPr sz="1200">
                <a:solidFill>
                  <a:srgbClr val="334155"/>
                </a:solidFill>
                <a:latin typeface="Segoe UI"/>
              </a:rPr>
              <a:t>Attendance, by paper roll-call or a shared code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—  </a:t>
            </a:r>
            <a:r>
              <a:rPr sz="1200">
                <a:solidFill>
                  <a:srgbClr val="334155"/>
                </a:solidFill>
                <a:latin typeface="Segoe UI"/>
              </a:rPr>
              <a:t>Internships, on job boards that never saw a transcript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903" y="4123944"/>
            <a:ext cx="466938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Convenient, and completely unaware of the university. That is the gap this project addresses.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48072"/>
            <a:ext cx="10820095" cy="676656"/>
          </a:xfrm>
          <a:prstGeom prst="roundRect">
            <a:avLst>
              <a:gd name="adj" fmla="val 16216"/>
            </a:avLst>
          </a:prstGeom>
          <a:solidFill>
            <a:srgbClr val="14532D"/>
          </a:solidFill>
          <a:ln>
            <a:noFill/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-alert_d977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67528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80744" y="5257800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None of these tools know who is actually enrolled — so none of them can enforce “only classmates in this course” or “only an enrolled student can be marked present.”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12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7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7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Nine services. One platform. No academic data owned.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9905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Each university enables or disables the six student-facing services independently.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19072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93391"/>
            <a:ext cx="3436010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223113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-qr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322575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72184" y="2267711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Smart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779775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Time-bound QR sessions, verified on five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7842" y="1993391"/>
            <a:ext cx="3436010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615586" y="223113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i-users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26" y="2322575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4226" y="2267711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Study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5586" y="2779775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Course-scoped groups with real-time chat.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884" y="1993391"/>
            <a:ext cx="3436010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307628" y="223113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i-car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068" y="2322575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56268" y="2267711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Ride Sharing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7628" y="2779775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Campus-only lifts with live GPS tracking.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29583"/>
            <a:ext cx="3436010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23544" y="3767327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i-flag_16a3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3858767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72184" y="3803903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Clubs &amp; Organizations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315967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Membership roles, announcements, events with RSVP.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7842" y="3529583"/>
            <a:ext cx="3436010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615586" y="3767327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i-briefcase_16a3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026" y="3858767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64226" y="3803903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Internship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5586" y="4315967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Scored against completed coursework.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9884" y="3529583"/>
            <a:ext cx="3436010" cy="1298448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307628" y="3767327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i-ticket_16a34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9068" y="3858767"/>
            <a:ext cx="219456" cy="2194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56268" y="3803903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Complaints &amp; Ticketing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7628" y="4315967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Routed to the right department, tracked to closure.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102351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78408" y="5248655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 Semibold"/>
              </a:rPr>
              <a:t>Shared by every module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always on, not optional</a:t>
            </a:r>
          </a:p>
        </p:txBody>
      </p:sp>
      <p:pic>
        <p:nvPicPr>
          <p:cNvPr id="39" name="Picture 38" descr="i-bell_64748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3320" y="5394959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069080" y="5358383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4155"/>
                </a:solidFill>
                <a:latin typeface="Segoe UI Semibold"/>
              </a:rPr>
              <a:t>Notifications</a:t>
            </a:r>
          </a:p>
        </p:txBody>
      </p:sp>
      <p:pic>
        <p:nvPicPr>
          <p:cNvPr id="41" name="Picture 40" descr="i-chart_64748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5394959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29400" y="5358383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4155"/>
                </a:solidFill>
                <a:latin typeface="Segoe UI Semibold"/>
              </a:rPr>
              <a:t>Reporting</a:t>
            </a:r>
          </a:p>
        </p:txBody>
      </p:sp>
      <p:pic>
        <p:nvPicPr>
          <p:cNvPr id="43" name="Picture 42" descr="i-file_64748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3959" y="5394959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89719" y="5358383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34155"/>
                </a:solidFill>
                <a:latin typeface="Segoe UI Semibold"/>
              </a:rPr>
              <a:t>Audit Logging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12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17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7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One interface is the only thing the platform depends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1664208"/>
            <a:ext cx="3200400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47088" y="1755648"/>
            <a:ext cx="279806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Web Portal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Razor views  ·  cookie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64208"/>
            <a:ext cx="3200400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504688" y="1755648"/>
            <a:ext cx="279806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Mobile App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.NET MAUI  ·  JWT bearer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957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96896"/>
            <a:ext cx="10820095" cy="877824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>
            <a:noFill/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724912"/>
            <a:ext cx="5852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ASP.NET Core 8 backend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DCFCE7"/>
                </a:solidFill>
                <a:latin typeface="Segoe UI"/>
              </a:rPr>
              <a:t>Core Platform  ·  9 service modules  ·  6 SignalR hubs  ·  6 background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5495" y="2743200"/>
            <a:ext cx="2926080" cy="585216"/>
          </a:xfrm>
          <a:prstGeom prst="roundRect">
            <a:avLst>
              <a:gd name="adj" fmla="val 15625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70087" y="2798064"/>
            <a:ext cx="25968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UniConnect database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A7E8C0"/>
                </a:solidFill>
                <a:latin typeface="Segoe UI"/>
              </a:rPr>
              <a:t>37 tables  ·  the only thing it writes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108200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▼   reads academic data through   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3822191"/>
            <a:ext cx="789401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-cloud-sync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4041648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6664" y="3950207"/>
            <a:ext cx="679673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532D"/>
                </a:solidFill>
                <a:latin typeface="Segoe UI Semibold"/>
              </a:rPr>
              <a:t>IUniversityProvider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one adapter interface  ·  resolved per university at runtime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4736592"/>
            <a:ext cx="384048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938528" y="4818888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 Semibold"/>
              </a:rPr>
              <a:t>Demo University API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the project's own simulated tenant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919472"/>
            <a:ext cx="841248" cy="274320"/>
          </a:xfrm>
          <a:prstGeom prst="roundRect">
            <a:avLst>
              <a:gd name="adj" fmla="val 2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0" y="4937759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spc="50">
                <a:solidFill>
                  <a:srgbClr val="14532D"/>
                </a:solidFill>
                <a:latin typeface="Segoe UI Semibold"/>
              </a:rPr>
              <a:t>READ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736592"/>
            <a:ext cx="384048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19088" y="4818888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Segoe UI Semibold"/>
              </a:rPr>
              <a:t>Partner University API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a real, live production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919472"/>
            <a:ext cx="841248" cy="274320"/>
          </a:xfrm>
          <a:prstGeom prst="roundRect">
            <a:avLst>
              <a:gd name="adj" fmla="val 2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0" y="4937759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spc="50">
                <a:solidFill>
                  <a:srgbClr val="14532D"/>
                </a:solidFill>
                <a:latin typeface="Segoe UI Semibold"/>
              </a:rPr>
              <a:t>READ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449824"/>
            <a:ext cx="10820095" cy="566928"/>
          </a:xfrm>
          <a:prstGeom prst="roundRect">
            <a:avLst>
              <a:gd name="adj" fmla="val 16129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-check-badge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614416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89304" y="5577840"/>
            <a:ext cx="99788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532D"/>
                </a:solidFill>
                <a:latin typeface="Segoe UI"/>
              </a:rPr>
              <a:t>Onboarding a new university means implementing one interface. Not one of the nine services changes.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12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21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1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1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21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Two clients, one backend, one identity.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3436010" cy="1572768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235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-dashboard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93392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50592"/>
            <a:ext cx="2960522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ASP.NET Core 8 MVC in C#. Razor views for the web portal and a JSON API for mobile, sharing one service layer so the two clients cannot disagree about a rule.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7842" y="1664208"/>
            <a:ext cx="3436010" cy="1572768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5586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-boo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26" y="1993392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4226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2450592"/>
            <a:ext cx="2960522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Entity Framework Core over SQL Server. 37 tables built by 33 migrations, with unique indexes and row versions enforcing the rules that matter.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9884" y="1664208"/>
            <a:ext cx="3436010" cy="1572768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07628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-bell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068" y="1993392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56268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2450592"/>
            <a:ext cx="2960522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SignalR across 6 hubs: group chat, notifications, live ride tracking, attendance, clubs and tickets.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3436010" cy="1572768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23544" y="37124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-id_16a3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3803903"/>
            <a:ext cx="219456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72184" y="3749039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261103"/>
            <a:ext cx="29605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ASP.NET Core Identity. Cookie authentication for the web session, JWT bearer for mobile — one account per student, either way 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7842" y="3474720"/>
            <a:ext cx="3436010" cy="1572768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15586" y="37124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-target_16a3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026" y="3803903"/>
            <a:ext cx="219456" cy="2194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64226" y="3749039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Matching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5586" y="4261103"/>
            <a:ext cx="29605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TF-IDF and cosine similarity over skills, completed coursework, major and interests.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9884" y="3474720"/>
            <a:ext cx="3436010" cy="1572768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307628" y="37124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i-check-circle_16a34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9068" y="3803903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56268" y="3749039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7628" y="4261103"/>
            <a:ext cx="29605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xUnit against a real file-backed SQLite database — 290 tests covering the highest-risk rules.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248655"/>
            <a:ext cx="10820095" cy="512064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60120" y="5321807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4532D"/>
                </a:solidFill>
                <a:latin typeface="Segoe UI"/>
              </a:rPr>
              <a:t>Tooling:   Visual Studio 2022    ·    Git and GitHub    ·    EF Core migrations    ·    ZXing for QR scanning    ·    SMTP notifications    ·    .NET MAUI for Android and Windows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12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17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17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FEATURE 01  ·  SMART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Five checks, not one scanned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1551371" cy="2395728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1551371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68680" y="1901952"/>
            <a:ext cx="310896" cy="310896"/>
          </a:xfrm>
          <a:prstGeom prst="roundRect">
            <a:avLst>
              <a:gd name="adj" fmla="val 2647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pic>
        <p:nvPicPr>
          <p:cNvPr id="10" name="Picture 9" descr="i-clock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395" y="1901952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2340864"/>
            <a:ext cx="118561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 Semibold"/>
              </a:rPr>
              <a:t>Token still valid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52928"/>
            <a:ext cx="118561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The session's QR expires on a timer set by the instructor.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051" y="1664208"/>
            <a:ext cx="1551371" cy="2395728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420051" y="1664208"/>
            <a:ext cx="1551371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602931" y="1901952"/>
            <a:ext cx="310896" cy="310896"/>
          </a:xfrm>
          <a:prstGeom prst="roundRect">
            <a:avLst>
              <a:gd name="adj" fmla="val 2647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02931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pic>
        <p:nvPicPr>
          <p:cNvPr id="17" name="Picture 16" descr="i-check-badge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646" y="1901952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02931" y="2340864"/>
            <a:ext cx="118561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 Semibold"/>
              </a:rPr>
              <a:t>Actually enrolled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2931" y="2852928"/>
            <a:ext cx="118561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Verified live through the adapter, against the university's own record.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302" y="1664208"/>
            <a:ext cx="1551371" cy="2395728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154302" y="1664208"/>
            <a:ext cx="1551371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337182" y="1901952"/>
            <a:ext cx="310896" cy="310896"/>
          </a:xfrm>
          <a:prstGeom prst="roundRect">
            <a:avLst>
              <a:gd name="adj" fmla="val 2647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337182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pic>
        <p:nvPicPr>
          <p:cNvPr id="24" name="Picture 23" descr="i-copy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897" y="1901952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337182" y="2340864"/>
            <a:ext cx="118561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 Semibold"/>
              </a:rPr>
              <a:t>Not already checked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7182" y="2852928"/>
            <a:ext cx="118561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A unique index on (session, student) makes a duplicate impossible.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88553" y="1664208"/>
            <a:ext cx="1551371" cy="2395728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888553" y="1664208"/>
            <a:ext cx="1551371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071433" y="1901952"/>
            <a:ext cx="310896" cy="310896"/>
          </a:xfrm>
          <a:prstGeom prst="roundRect">
            <a:avLst>
              <a:gd name="adj" fmla="val 2647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071433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pic>
        <p:nvPicPr>
          <p:cNvPr id="31" name="Picture 30" descr="i-location_16a3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148" y="1901952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71433" y="2340864"/>
            <a:ext cx="118561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 Semibold"/>
              </a:rPr>
              <a:t>Inside the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1433" y="2852928"/>
            <a:ext cx="118561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Haversine distance against the session's GPS radius.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2804" y="1664208"/>
            <a:ext cx="1551371" cy="2395728"/>
          </a:xfrm>
          <a:prstGeom prst="roundRect">
            <a:avLst>
              <a:gd name="adj" fmla="val 70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622804" y="1664208"/>
            <a:ext cx="1551371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805684" y="1901952"/>
            <a:ext cx="310896" cy="310896"/>
          </a:xfrm>
          <a:prstGeom prst="roundRect">
            <a:avLst>
              <a:gd name="adj" fmla="val 26470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805684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pic>
        <p:nvPicPr>
          <p:cNvPr id="38" name="Picture 37" descr="i-id_16a3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0399" y="1901952"/>
            <a:ext cx="274320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05684" y="2340864"/>
            <a:ext cx="118561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 Semibold"/>
              </a:rPr>
              <a:t>Device not reused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5684" y="2852928"/>
            <a:ext cx="118561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The same device cannot check in twice for one session.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261104"/>
            <a:ext cx="8305495" cy="566928"/>
          </a:xfrm>
          <a:prstGeom prst="roundRect">
            <a:avLst>
              <a:gd name="adj" fmla="val 16129"/>
            </a:avLst>
          </a:prstGeom>
          <a:solidFill>
            <a:srgbClr val="14532D"/>
          </a:solidFill>
          <a:ln>
            <a:noFill/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41832" y="4352544"/>
            <a:ext cx="784829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All five pass  →  recorded as Present, or Late outside the grace window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974336"/>
            <a:ext cx="8305495" cy="786384"/>
          </a:xfrm>
          <a:prstGeom prst="roundRect">
            <a:avLst>
              <a:gd name="adj" fmla="val 11627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i-alert_d977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" y="5248656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89304" y="5102352"/>
            <a:ext cx="746424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8350F"/>
                </a:solidFill>
                <a:latin typeface="Segoe UI"/>
              </a:rPr>
              <a:t>A card or code-only system checks one factor. Forward the code to a friend and it passes. Here it fails at step 4, and again at step 5.</a:t>
            </a:r>
          </a:p>
        </p:txBody>
      </p:sp>
      <p:pic>
        <p:nvPicPr>
          <p:cNvPr id="46" name="Picture 45" descr="mobile_checkin_fram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0974" y="1664208"/>
            <a:ext cx="2178121" cy="3877056"/>
          </a:xfrm>
          <a:prstGeom prst="rect">
            <a:avLst/>
          </a:prstGeom>
          <a:effectLst>
            <a:outerShdw blurRad="279400" dist="88900" dir="5400000" rotWithShape="0">
              <a:srgbClr val="0F172A">
                <a:alpha val="22000"/>
              </a:srgbClr>
            </a:outerShdw>
          </a:effectLst>
        </p:spPr>
      </p:pic>
      <p:sp>
        <p:nvSpPr>
          <p:cNvPr id="47" name="TextBox 46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12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15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5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4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5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4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4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4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4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4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4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15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4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4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15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4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4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4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4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4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FEATURE 02  ·  INTERNSHIP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Matched on coursework, not on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6895" y="822960"/>
            <a:ext cx="3429000" cy="475488"/>
          </a:xfrm>
          <a:prstGeom prst="roundRect">
            <a:avLst>
              <a:gd name="adj" fmla="val 26923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-check-badg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063" y="941832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5535" y="877824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4532D"/>
                </a:solidFill>
                <a:latin typeface="Segoe UI Semibold"/>
              </a:rPr>
              <a:t>Being adopted by our university
for internship placement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64208"/>
            <a:ext cx="5760720" cy="329184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1901952"/>
            <a:ext cx="5175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How the 0–100 score is composed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95728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32304"/>
            <a:ext cx="2880360" cy="182880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78408" y="2798064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Completed courses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834640"/>
            <a:ext cx="2880360" cy="182880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78408" y="32004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Major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236976"/>
            <a:ext cx="2880360" cy="182880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8408" y="360273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Career interests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639312"/>
            <a:ext cx="2880360" cy="182880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78408" y="400507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4041648"/>
            <a:ext cx="2880360" cy="182880"/>
          </a:xfrm>
          <a:prstGeom prst="roundRect">
            <a:avLst>
              <a:gd name="adj" fmla="val 2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560320" y="2432304"/>
            <a:ext cx="2880360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560320" y="2834640"/>
            <a:ext cx="2057400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560320" y="3236976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560320" y="36393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560320" y="404164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568695" y="239572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532D"/>
                </a:solidFill>
                <a:latin typeface="Segoe UI Semibold"/>
              </a:rPr>
              <a:t>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8695" y="2798064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532D"/>
                </a:solidFill>
                <a:latin typeface="Segoe UI Semibold"/>
              </a:rP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8695" y="320040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532D"/>
                </a:solidFill>
                <a:latin typeface="Segoe UI Semibold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8695" y="3602736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532D"/>
                </a:solidFill>
                <a:latin typeface="Segoe UI Semibold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8695" y="400507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532D"/>
                </a:solidFill>
                <a:latin typeface="Segoe UI Semibold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352544"/>
            <a:ext cx="5175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Weights sum to 100. Skills, courses, major and interests are each compared using TF-IDF and cosine similarity.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1664208"/>
            <a:ext cx="4785055" cy="1572768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958583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i-cloud-sync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3" y="1993392"/>
            <a:ext cx="219456" cy="2194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507223" y="1938528"/>
            <a:ext cx="37609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Read live, through the adapter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8583" y="2450592"/>
            <a:ext cx="4309567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The course component is the student's actual completed coursework, fetched from the university's own system at scoring time — not a self-reported list typed into a profile.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3383280"/>
            <a:ext cx="4785055" cy="1572768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6958583" y="362102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-shield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3" y="3712463"/>
            <a:ext cx="219456" cy="2194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507223" y="3657600"/>
            <a:ext cx="376092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Degrades, never breaks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8583" y="4169663"/>
            <a:ext cx="43095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If a university's API is unavailable, the course weight is redistributed proportionally across the others. The student gets a partial score with the reason shown — not a zero, and not an error page.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175504"/>
            <a:ext cx="10820095" cy="658368"/>
          </a:xfrm>
          <a:prstGeom prst="roundRect">
            <a:avLst>
              <a:gd name="adj" fmla="val 13888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i-target_16a3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385816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89304" y="5303520"/>
            <a:ext cx="9978847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532D"/>
                </a:solidFill>
                <a:latin typeface="Segoe UI"/>
              </a:rPr>
              <a:t>Job boards match on free text a student writes about themselves. This matches on what the registrar says they have actually passed.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12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15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4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15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15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6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15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6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6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6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6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FEATURE 03  ·  RIDE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Campus-only lifts, tracked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3436010" cy="2542032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235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-car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93392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 Semibold"/>
              </a:rPr>
              <a:t>Offer and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50592"/>
            <a:ext cx="2960522" cy="1517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A driver-student publishes a route, a departure time and a seat count. Riders from the same university request a seat; the driver approves or declines each one.
Vehicles are registered to the driver, so a rider knows what car to expect before it arrives.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7842" y="1664208"/>
            <a:ext cx="3436010" cy="2542032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5586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-map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26" y="1993392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4226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 Semibold"/>
              </a:rPr>
              <a:t>Live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2450592"/>
            <a:ext cx="2960522" cy="1517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Once a ride starts, the driver's position streams over SignalR to everyone on that ride, on a live map.
A rider waiting at a pickup point can see where the car actually is, instead of exchanging messages about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9884" y="1664208"/>
            <a:ext cx="3436010" cy="2542032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07628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-lock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068" y="1993392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56268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 Semibold"/>
              </a:rPr>
              <a:t>The last seat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2450592"/>
            <a:ext cx="2960522" cy="1517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Two riders approved at the same instant cannot oversell the car. An optimistic-concurrency row version means one approval wins and the other is told cleanly.
Without it, the driver discovers the problem in the car park.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07408"/>
            <a:ext cx="10820095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187141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34155"/>
                </a:solidFill>
                <a:latin typeface="Segoe UI Semibold"/>
              </a:rPr>
              <a:t>Driver offers a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1803" y="448056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9547" y="4480560"/>
            <a:ext cx="187141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Rider requests a seat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2670" y="448056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0414" y="4480560"/>
            <a:ext cx="187141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Driver approves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537" y="448056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1281" y="4480560"/>
            <a:ext cx="187141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Live tracking en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4404" y="4480560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A34A"/>
                </a:solidFill>
                <a:latin typeface="Segoe U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2148" y="4480560"/>
            <a:ext cx="187141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Ride completed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193792"/>
            <a:ext cx="10820095" cy="841248"/>
          </a:xfrm>
          <a:prstGeom prst="roundRect">
            <a:avLst>
              <a:gd name="adj" fmla="val 10869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i-shield_16a3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495544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89304" y="5321807"/>
            <a:ext cx="997884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532D"/>
                </a:solidFill>
                <a:latin typeface="Segoe UI"/>
              </a:rPr>
              <a:t>A commercial ride-hailing app can move a student across the city, but it cannot offer the one guarantee that matters on a campus: every person in that car is a verified member of your own university, with a real name attached to a real record.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12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7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7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17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17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FEATURE 04  ·  STUDY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Only your classmates can join.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235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-users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93392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Scoped to the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Membership is checked against the university's own enrolment record through the adapter. Not an invite link, and not a name typed into a box — the group can only contain people actually taking that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565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0339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-bell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993392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5203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Real-time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39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Messages go over SignalR through the StudyGroupHub, so they appear instantly for everyone in the group, on the web portal and in the mobile app alike.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550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2832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-lock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684" y="1993392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188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Capacity that holds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24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Groups cap at ten members. Two students accepting the last place at the same instant cannot both get in: an optimistic-concurrency row version means one succeeds and the other is told cleanly.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10820095" cy="841248"/>
          </a:xfrm>
          <a:prstGeom prst="roundRect">
            <a:avLst>
              <a:gd name="adj" fmla="val 10869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-shield_16a3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599432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89304" y="4425696"/>
            <a:ext cx="997884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532D"/>
                </a:solidFill>
                <a:latin typeface="Segoe UI"/>
              </a:rPr>
              <a:t>A WhatsApp group cannot tell a classmate from a stranger who was forwarded the invite link. This can, because it asks the university before letting anyone 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12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7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7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7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FEATURE 05  ·  CLUBS &amp; ORGANIZATIONS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Run a club, not a group chat.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235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-check-badg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93392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Roles that mean something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President, Vice-President, Officer and Member are real roles with real permissions, so only officers can post announcements or create events. A club survives its committee changing.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565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0339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-idea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993392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5203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Announcements that reach 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39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An officer posts once and every member is notified through the shared notification service — rather than hoping the message is seen in a chat thread nobody scrolls back through.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550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2832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-clock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684" y="1993392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188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Events with RSVP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24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Members respond in advance, so a club knows its numbers before the day rather than counting whoever turns up at the door.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10820095" cy="841248"/>
          </a:xfrm>
          <a:prstGeom prst="roundRect">
            <a:avLst>
              <a:gd name="adj" fmla="val 10869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-idea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599432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89304" y="4425696"/>
            <a:ext cx="997884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532D"/>
                </a:solidFill>
                <a:latin typeface="Segoe UI"/>
              </a:rPr>
              <a:t>Student societies currently run on group chats and spreadsheets, which lose their history every time the committee changes. Membership, roles and events belong somewhere permanent.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12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7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7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7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FEATURE 06  ·  COMPLAINTS &amp; TICKETING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A complaint with a paper trail.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235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-target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93392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Routed to a 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 ticket is raised against a category that maps to the department that owns it, so it reaches the staff who can actually resolve it instead of a shared inbox nobody is accountable for.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565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0339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-clo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993392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5203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Tracked to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39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Open, In Progress, Waiting for Student, Resolved, Closed or Rejected. The student can see the state of their own complaint at any moment, and every response is kept.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5500" y="1664208"/>
            <a:ext cx="3460394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2832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-file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684" y="1993392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1884" y="1938528"/>
            <a:ext cx="24362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 Semibold"/>
              </a:rPr>
              <a:t>Evidence and an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244" y="2450592"/>
            <a:ext cx="29849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Attachments go with the ticket, and every administrative action is written to the audit log — so what happened, and who did it, is answerable after the fact.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10820095" cy="841248"/>
          </a:xfrm>
          <a:prstGeom prst="roundRect">
            <a:avLst>
              <a:gd name="adj" fmla="val 10869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-check-badge_16a3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599432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89304" y="4425696"/>
            <a:ext cx="9978847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532D"/>
                </a:solidFill>
                <a:latin typeface="Segoe UI"/>
              </a:rPr>
              <a:t>An email to a department has no status, no owner and no record. A student chasing a complaint should never have to ask whether anyone received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12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7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7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17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SECURITY &amp;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What we enforced, and what we are honest about.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9905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Smart Attendance records where a named student physically was. That raised the bar for what we had to justify.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19072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93391"/>
            <a:ext cx="5272887" cy="4005072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93391"/>
            <a:ext cx="5272887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-shield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49424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44168" y="2231135"/>
            <a:ext cx="43584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 Semibold"/>
              </a:rPr>
              <a:t>Enforced in the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88335"/>
            <a:ext cx="4724247" cy="3090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Tenant isolation in the database. </a:t>
            </a:r>
            <a:r>
              <a:rPr sz="1050">
                <a:solidFill>
                  <a:srgbClr val="64748B"/>
                </a:solidFill>
                <a:latin typeface="Segoe UI"/>
              </a:rPr>
              <a:t>Every service row carries a UniversityCode, so isolation survives an application bug.</a:t>
            </a:r>
          </a:p>
          <a:p>
            <a:pPr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A read-only adapter. </a:t>
            </a:r>
            <a:r>
              <a:rPr sz="1050">
                <a:solidFill>
                  <a:srgbClr val="64748B"/>
                </a:solidFill>
                <a:latin typeface="Segoe UI"/>
              </a:rPr>
              <a:t>UniConnect cannot write to university records, by construction.</a:t>
            </a:r>
          </a:p>
          <a:p>
            <a:pPr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Two-factor authentication (web). </a:t>
            </a:r>
            <a:r>
              <a:rPr sz="1050">
                <a:solidFill>
                  <a:srgbClr val="64748B"/>
                </a:solidFill>
                <a:latin typeface="Segoe UI"/>
              </a:rPr>
              <a:t>TOTP under RFC 6238, enrolled by QR so the secret is never typed; the mobile API refuses 2FA accounts.</a:t>
            </a:r>
          </a:p>
          <a:p>
            <a:pPr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Two schemes, one identity. </a:t>
            </a:r>
            <a:r>
              <a:rPr sz="1050">
                <a:solidFill>
                  <a:srgbClr val="64748B"/>
                </a:solidFill>
                <a:latin typeface="Segoe UI"/>
              </a:rPr>
              <a:t>Cookie for web, JWT for mobile, one Identity store.</a:t>
            </a:r>
          </a:p>
          <a:p>
            <a:pPr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Role-based authorization, </a:t>
            </a:r>
            <a:r>
              <a:rPr sz="1050">
                <a:solidFill>
                  <a:srgbClr val="64748B"/>
                </a:solidFill>
                <a:latin typeface="Segoe UI"/>
              </a:rPr>
              <a:t>with denied attempts written to the audit log.</a:t>
            </a:r>
          </a:p>
          <a:p>
            <a:pPr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Anti-forgery tokens </a:t>
            </a:r>
            <a:r>
              <a:rPr sz="1050">
                <a:solidFill>
                  <a:srgbClr val="64748B"/>
                </a:solidFill>
                <a:latin typeface="Segoe UI"/>
              </a:rPr>
              <a:t>on every state-changing web action.</a:t>
            </a:r>
          </a:p>
          <a:p>
            <a:pPr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HTTPS redirection and HSTS, </a:t>
            </a:r>
            <a:r>
              <a:rPr sz="1050">
                <a:solidFill>
                  <a:srgbClr val="64748B"/>
                </a:solidFill>
                <a:latin typeface="Segoe UI"/>
              </a:rPr>
              <a:t>plus ASP.NET Identity password hashing.</a:t>
            </a:r>
          </a:p>
          <a:p>
            <a:pPr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Security-stamp revalidation. </a:t>
            </a:r>
            <a:r>
              <a:rPr sz="1050">
                <a:solidFill>
                  <a:srgbClr val="64748B"/>
                </a:solidFill>
                <a:latin typeface="Segoe UI"/>
              </a:rPr>
              <a:t>A disabled account loses access immediately.</a:t>
            </a:r>
          </a:p>
          <a:p>
            <a:pPr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Uploads stored under non-guessable names.</a:t>
            </a:r>
            <a:r>
              <a:rPr sz="105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993391"/>
            <a:ext cx="5272887" cy="4005072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3007" y="1993391"/>
            <a:ext cx="5272887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i-alert_d977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7" y="2249424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91375" y="2231135"/>
            <a:ext cx="435848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 Semibold"/>
              </a:rPr>
              <a:t>Known gaps — documented, not hidden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688335"/>
            <a:ext cx="4724247" cy="3090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No retention or erasure policy. </a:t>
            </a:r>
            <a:r>
              <a:rPr sz="1050">
                <a:solidFill>
                  <a:srgbClr val="64748B"/>
                </a:solidFill>
                <a:latin typeface="Segoe UI"/>
              </a:rPr>
              <a:t>Attendance records and GPS coordinates persist indefinitely, with no self-service export or delete.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Uneven disclosure. </a:t>
            </a:r>
            <a:r>
              <a:rPr sz="1050">
                <a:solidFill>
                  <a:srgbClr val="64748B"/>
                </a:solidFill>
                <a:latin typeface="Segoe UI"/>
              </a:rPr>
              <a:t>Both clients tell the student their location is checked; the device fingerprint is collected without being surfaced.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No formal DPIA </a:t>
            </a:r>
            <a:r>
              <a:rPr sz="1050">
                <a:solidFill>
                  <a:srgbClr val="64748B"/>
                </a:solidFill>
                <a:latin typeface="Segoe UI"/>
              </a:rPr>
              <a:t>was carried out.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Files on local disk, </a:t>
            </a:r>
            <a:r>
              <a:rPr sz="1050">
                <a:solidFill>
                  <a:srgbClr val="64748B"/>
                </a:solidFill>
                <a:latin typeface="Segoe UI"/>
              </a:rPr>
              <a:t>rather than object storage with per-object access control.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Authorization is evidenced by code review, </a:t>
            </a:r>
            <a:r>
              <a:rPr sz="1050">
                <a:solidFill>
                  <a:srgbClr val="64748B"/>
                </a:solidFill>
                <a:latin typeface="Segoe UI"/>
              </a:rPr>
              <a:t>not yet by a formal test matrix.</a:t>
            </a:r>
          </a:p>
          <a:p>
            <a:pPr>
              <a:lnSpc>
                <a:spcPct val="118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Segoe UI"/>
              </a:rPr>
              <a:t>—  </a:t>
            </a:r>
            <a:r>
              <a:rPr sz="1050" b="1">
                <a:solidFill>
                  <a:srgbClr val="0F172A"/>
                </a:solidFill>
                <a:latin typeface="Segoe UI Semibold"/>
              </a:rPr>
              <a:t>No load testing, </a:t>
            </a:r>
            <a:r>
              <a:rPr sz="1050">
                <a:solidFill>
                  <a:srgbClr val="64748B"/>
                </a:solidFill>
                <a:latin typeface="Segoe UI"/>
              </a:rPr>
              <a:t>so graceful degradation is demonstrated by construction rather than measurement.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12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17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No single existing product covers this ground.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18303" y="1664208"/>
            <a:ext cx="12587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LMS
Canvas, Blackboard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6795" y="1664208"/>
            <a:ext cx="12587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Messaging
WhatsApp, Discord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5286" y="1664208"/>
            <a:ext cx="12587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Ride-hailing
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777" y="1664208"/>
            <a:ext cx="12587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Job boards
LinkedIn, Indeed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37404" y="1609344"/>
            <a:ext cx="1368491" cy="3493008"/>
          </a:xfrm>
          <a:prstGeom prst="roundRect">
            <a:avLst>
              <a:gd name="adj" fmla="val 6681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192268" y="1664208"/>
            <a:ext cx="12587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532D"/>
                </a:solidFill>
                <a:latin typeface="Segoe UI Semibold"/>
              </a:rPr>
              <a:t>UniConnect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67712"/>
            <a:ext cx="1082009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67712"/>
            <a:ext cx="397763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267712"/>
            <a:ext cx="37581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Verified course enrolment behind every action</a:t>
            </a:r>
          </a:p>
        </p:txBody>
      </p:sp>
      <p:pic>
        <p:nvPicPr>
          <p:cNvPr id="15" name="Picture 14" descr="i-check-circl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29" y="2391156"/>
            <a:ext cx="210312" cy="2103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1931" y="22677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0422" y="22677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8913" y="22677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pic>
        <p:nvPicPr>
          <p:cNvPr id="19" name="Picture 18" descr="i-check-circl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493" y="2391156"/>
            <a:ext cx="210312" cy="21031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85800" y="2724912"/>
            <a:ext cx="10820095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724912"/>
            <a:ext cx="37581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Attendance verified on more than one factor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7249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7706"/>
                </a:solidFill>
                <a:latin typeface="Segoe UI Semibold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1931" y="27249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0422" y="27249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8913" y="27249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pic>
        <p:nvPicPr>
          <p:cNvPr id="26" name="Picture 25" descr="i-check-circl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493" y="2848356"/>
            <a:ext cx="210312" cy="21031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5800" y="3182112"/>
            <a:ext cx="10820095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182112"/>
            <a:ext cx="397763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3182112"/>
            <a:ext cx="37581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Trust scoped to your own university</a:t>
            </a:r>
          </a:p>
        </p:txBody>
      </p:sp>
      <p:pic>
        <p:nvPicPr>
          <p:cNvPr id="30" name="Picture 29" descr="i-check-circl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29" y="3305556"/>
            <a:ext cx="210312" cy="2103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31931" y="31821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7706"/>
                </a:solidFill>
                <a:latin typeface="Segoe UI Semibold"/>
              </a:rPr>
              <a:t>partial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0422" y="31821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8913" y="31821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pic>
        <p:nvPicPr>
          <p:cNvPr id="34" name="Picture 33" descr="i-check-circl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493" y="3305556"/>
            <a:ext cx="210312" cy="21031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85800" y="3639312"/>
            <a:ext cx="10820095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639312"/>
            <a:ext cx="37581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Matching on actual completed coursework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6393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1931" y="36393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0422" y="36393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8913" y="36393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7706"/>
                </a:solidFill>
                <a:latin typeface="Segoe UI Semibold"/>
              </a:rPr>
              <a:t>partial</a:t>
            </a:r>
          </a:p>
        </p:txBody>
      </p:sp>
      <p:pic>
        <p:nvPicPr>
          <p:cNvPr id="41" name="Picture 40" descr="i-check-circl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493" y="3762756"/>
            <a:ext cx="210312" cy="21031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685800" y="4096512"/>
            <a:ext cx="10820095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4096512"/>
            <a:ext cx="397763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7240" y="4096512"/>
            <a:ext cx="37581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Runs above the university, owning no academic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0965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1931" y="40965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0422" y="40965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8913" y="40965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pic>
        <p:nvPicPr>
          <p:cNvPr id="49" name="Picture 48" descr="i-check-circl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493" y="4219956"/>
            <a:ext cx="210312" cy="21031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85800" y="4553712"/>
            <a:ext cx="10820095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553712"/>
            <a:ext cx="37581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egoe UI"/>
              </a:rPr>
              <a:t>All of it behind one verified identity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45537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1931" y="45537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0422" y="45537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68913" y="4553712"/>
            <a:ext cx="136849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—</a:t>
            </a:r>
          </a:p>
        </p:txBody>
      </p:sp>
      <p:pic>
        <p:nvPicPr>
          <p:cNvPr id="56" name="Picture 55" descr="i-check-circle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493" y="4677156"/>
            <a:ext cx="210312" cy="210312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85800" y="5010912"/>
            <a:ext cx="10820095" cy="9525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85800" y="5285232"/>
            <a:ext cx="10820095" cy="73152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2700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i-idea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532120"/>
            <a:ext cx="237744" cy="23774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289304" y="5413248"/>
            <a:ext cx="997884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4532D"/>
                </a:solidFill>
                <a:latin typeface="Segoe UI"/>
              </a:rPr>
              <a:t>Each column does its own job well. The gap is that a student's enrolment — the one fact that makes any of these trustworthy inside a university — is visible to none of them.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12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17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17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What was actually built and verified.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2526715" cy="120700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693125" y="2322576"/>
            <a:ext cx="512064" cy="32004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160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32D"/>
                </a:solidFill>
                <a:latin typeface="Segoe UI Semibold"/>
              </a:rPr>
              <a:t>290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450592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passing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0259" y="1664208"/>
            <a:ext cx="2526715" cy="120700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57585" y="2322576"/>
            <a:ext cx="512064" cy="32004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33139" y="1828800"/>
            <a:ext cx="2160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32D"/>
                </a:solidFill>
                <a:latin typeface="Segoe UI Semibold"/>
              </a:rPr>
              <a:t>~32,300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8275" y="2450592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lines of hand-written C#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1664208"/>
            <a:ext cx="2526715" cy="120700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222045" y="2322576"/>
            <a:ext cx="512064" cy="32004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97599" y="1828800"/>
            <a:ext cx="2160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32D"/>
                </a:solidFill>
                <a:latin typeface="Segoe UI Semibold"/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450592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database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179" y="1664208"/>
            <a:ext cx="2526715" cy="120700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986505" y="2322576"/>
            <a:ext cx="512064" cy="32004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2059" y="1828800"/>
            <a:ext cx="2160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32D"/>
                </a:solidFill>
                <a:latin typeface="Segoe UI Semibold"/>
              </a:rPr>
              <a:t>174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195" y="2450592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controller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035808"/>
            <a:ext cx="2526715" cy="120700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693125" y="3694176"/>
            <a:ext cx="512064" cy="32004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3200400"/>
            <a:ext cx="2160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32D"/>
                </a:solidFill>
                <a:latin typeface="Segoe UI Semibold"/>
              </a:rPr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3822192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service classes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0259" y="3035808"/>
            <a:ext cx="2526715" cy="120700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457585" y="3694176"/>
            <a:ext cx="512064" cy="32004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33139" y="3200400"/>
            <a:ext cx="2160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32D"/>
                </a:solidFill>
                <a:latin typeface="Segoe UI Semibold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8275" y="3822192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SignalR hubs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4719" y="3035808"/>
            <a:ext cx="2526715" cy="120700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222045" y="3694176"/>
            <a:ext cx="512064" cy="32004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97599" y="3200400"/>
            <a:ext cx="2160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32D"/>
                </a:solidFill>
                <a:latin typeface="Segoe UI Semibold"/>
              </a:rPr>
              <a:t>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2735" y="3822192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EF Core migrations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79179" y="3035808"/>
            <a:ext cx="2526715" cy="120700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986505" y="3694176"/>
            <a:ext cx="512064" cy="32004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62059" y="3200400"/>
            <a:ext cx="21609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32D"/>
                </a:solidFill>
                <a:latin typeface="Segoe UI Semibol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195" y="3822192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provider implementations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498848"/>
            <a:ext cx="10820095" cy="109728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ln>
            <a:noFill/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-check-badg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882896"/>
            <a:ext cx="329184" cy="3291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27048" y="4681728"/>
            <a:ext cx="963137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Tested against a real relational database, not an in-memory stub.</a:t>
            </a:r>
          </a:p>
          <a:p>
            <a:pPr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B7ECC9"/>
                </a:solidFill>
                <a:latin typeface="Segoe UI"/>
              </a:rPr>
              <a:t>EF Core's in-memory provider does not enforce unique indexes or foreign keys — so a suite built on it passes silently for exactly the defects most likely to reach production: a duplicate check-in, a second application to the same internship, an orphaned membership row.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12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17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17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75488"/>
            <a:ext cx="108200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16A34A"/>
                </a:solidFill>
                <a:latin typeface="Segoe UI Semibold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68096"/>
            <a:ext cx="1082009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 Semibold"/>
              </a:rPr>
              <a:t>The next steps, in the order we would take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1371600" cy="30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343601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23544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-bell_16a3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93392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The mobile live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50592"/>
            <a:ext cx="2960522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SignalR-backed chat, live ride tracking and push notifications, bringing the mobile client up to the real-time behaviour the web portal already has.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7842" y="1664208"/>
            <a:ext cx="343601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5586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i-car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26" y="1993392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4226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Full mobile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5586" y="2450592"/>
            <a:ext cx="2960522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Clubs and Complaints as complete mobile modules, plus a dedicated endpoint for the cross-module My Activity view, and code entry so two-factor accounts can sign in on the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9884" y="1664208"/>
            <a:ext cx="343601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07628" y="19019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-cloud-sync_16a3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068" y="1993392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56268" y="1938528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Close the partner-API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2450592"/>
            <a:ext cx="2960522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An instructor and staff directory, and either a bulk student endpoint or a documented workaround. Both are already raised with the partner university.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85032"/>
            <a:ext cx="343601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23544" y="392277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-check-circle_16a3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014215"/>
            <a:ext cx="219456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72184" y="3959352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Test 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471416"/>
            <a:ext cx="296052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Extend end-to-end HTTP testing beyond authentication to every module, and add a formal authorization matrix asserting each role reaches exactly the endpoints it should.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7842" y="3685032"/>
            <a:ext cx="343601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15586" y="392277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-shield_16a3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026" y="4014215"/>
            <a:ext cx="219456" cy="2194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64226" y="3959352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Data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5586" y="4471416"/>
            <a:ext cx="296052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 retention and erasure policy, self-service export and delete, full disclosure at the point of collection, and a formal DPIA.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9884" y="3685032"/>
            <a:ext cx="3436010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27000" dist="38100" dir="5400000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307628" y="392277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i-users_16a34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9068" y="4014215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56268" y="3959352"/>
            <a:ext cx="241188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 Semibold"/>
              </a:rPr>
              <a:t>Usability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7628" y="4471416"/>
            <a:ext cx="296052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No study was run with real students, and the system has not been load tested. Both would turn design decisions we argue for into results we can measure.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82512"/>
            <a:ext cx="757406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UniConnect  ·  Final Year Project  ·  University of Sciences and Arts in Lebanon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495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12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17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27" y="384048"/>
            <a:ext cx="2834640" cy="2834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93511" y="1170432"/>
            <a:ext cx="804672" cy="804672"/>
          </a:xfrm>
          <a:prstGeom prst="roundRect">
            <a:avLst>
              <a:gd name="adj" fmla="val 2613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-graduatio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535" y="13624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212848"/>
            <a:ext cx="108200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Segoe UI Semibold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55264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DCFCE7"/>
                </a:solidFill>
                <a:latin typeface="Segoe UI"/>
              </a:rPr>
              <a:t>We are happy to take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98167" y="3840480"/>
            <a:ext cx="8595360" cy="1060704"/>
          </a:xfrm>
          <a:prstGeom prst="roundRect">
            <a:avLst>
              <a:gd name="adj" fmla="val 13793"/>
            </a:avLst>
          </a:prstGeom>
          <a:solidFill>
            <a:srgbClr val="0B3D21">
              <a:alpha val="42000"/>
            </a:srgbClr>
          </a:solidFill>
          <a:ln w="9525">
            <a:solidFill>
              <a:srgbClr val="2F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98167" y="396849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8167" y="449884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DCB6"/>
                </a:solidFill>
                <a:latin typeface="Segoe UI"/>
              </a:rP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7007" y="396849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290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7007" y="449884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DCB6"/>
                </a:solidFill>
                <a:latin typeface="Segoe UI"/>
              </a:rPr>
              <a:t>passing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7007" y="4059936"/>
            <a:ext cx="10972" cy="621792"/>
          </a:xfrm>
          <a:prstGeom prst="rect">
            <a:avLst/>
          </a:prstGeom>
          <a:solidFill>
            <a:srgbClr val="3D8A5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95847" y="396849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449884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DCB6"/>
                </a:solidFill>
                <a:latin typeface="Segoe UI"/>
              </a:rPr>
              <a:t>universities integrated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4059936"/>
            <a:ext cx="10972" cy="621792"/>
          </a:xfrm>
          <a:prstGeom prst="rect">
            <a:avLst/>
          </a:prstGeom>
          <a:solidFill>
            <a:srgbClr val="3D8A5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44687" y="396849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~32,300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687" y="4498848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DCB6"/>
                </a:solidFill>
                <a:latin typeface="Segoe UI"/>
              </a:rPr>
              <a:t>lines of C#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4687" y="4059936"/>
            <a:ext cx="10972" cy="621792"/>
          </a:xfrm>
          <a:prstGeom prst="rect">
            <a:avLst/>
          </a:prstGeom>
          <a:solidFill>
            <a:srgbClr val="3D8A5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227167" y="5285232"/>
            <a:ext cx="1737360" cy="330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522976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Mohamad Sabbagh  ·  1123206          Mohamad Ali Rida  ·  1122824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8FD0A8"/>
                </a:solidFill>
                <a:latin typeface="Segoe UI"/>
              </a:rPr>
              <a:t>Supervisor:  Zahraa Sleem      ·      UniConnect  —  Connect. Study. Commute.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12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1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21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21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